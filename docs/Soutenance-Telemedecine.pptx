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A56C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0" y="0"/>
            <a:ext cx="4023360" cy="6858000"/>
          </a:xfrm>
          <a:prstGeom prst="rect">
            <a:avLst/>
          </a:prstGeom>
          <a:solidFill>
            <a:srgbClr val="283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955279" y="0"/>
            <a:ext cx="91440" cy="6858000"/>
          </a:xfrm>
          <a:prstGeom prst="rect">
            <a:avLst/>
          </a:prstGeom>
          <a:solidFill>
            <a:srgbClr val="2CC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0" y="-1097280"/>
            <a:ext cx="3291840" cy="3291840"/>
          </a:xfrm>
          <a:prstGeom prst="ellipse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058400" y="4206240"/>
            <a:ext cx="2926080" cy="2926080"/>
          </a:xfrm>
          <a:prstGeom prst="ellipse">
            <a:avLst/>
          </a:prstGeom>
          <a:solidFill>
            <a:srgbClr val="324BA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22960" y="777240"/>
            <a:ext cx="868680" cy="868680"/>
          </a:xfrm>
          <a:prstGeom prst="roundRect">
            <a:avLst>
              <a:gd name="adj" fmla="val 28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4000" b="1">
                <a:solidFill>
                  <a:srgbClr val="3A56C1"/>
                </a:solidFill>
                <a:latin typeface="Segoe UI"/>
              </a:rPr>
              <a:t>✚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841248"/>
            <a:ext cx="5486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Segoe UI"/>
              </a:rPr>
              <a:t>TELEMEDECINE</a:t>
            </a:r>
          </a:p>
          <a:p>
            <a:pPr algn="l"/>
            <a:r>
              <a:rPr sz="1200" b="0" i="0">
                <a:solidFill>
                  <a:srgbClr val="C7D2FF"/>
                </a:solidFill>
                <a:latin typeface="Segoe UI"/>
              </a:rPr>
              <a:t>Plateforme de téléconsultation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468880"/>
            <a:ext cx="731520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0" i="0">
                <a:solidFill>
                  <a:srgbClr val="C7D2FF"/>
                </a:solidFill>
                <a:latin typeface="Segoe UI"/>
              </a:rPr>
              <a:t>Conception et réalisation d'une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Segoe UI"/>
              </a:rPr>
              <a:t>plateforme de télémédecine</a:t>
            </a:r>
          </a:p>
          <a:p>
            <a:pPr algn="l"/>
            <a:r>
              <a:rPr sz="1700" b="1" i="0">
                <a:solidFill>
                  <a:srgbClr val="2CC68D"/>
                </a:solidFill>
                <a:latin typeface="Segoe UI"/>
              </a:rPr>
              <a:t>Patient · Médecin · Administrateur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617720"/>
            <a:ext cx="69494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8DFFF"/>
                </a:solidFill>
                <a:latin typeface="Segoe UI"/>
              </a:rPr>
              <a:t>Application web Angular 21  ·  Backend Spring Boot 3.5 / Java 21</a:t>
            </a:r>
          </a:p>
          <a:p>
            <a:pPr algn="l"/>
            <a:r>
              <a:rPr sz="1300" b="0" i="0">
                <a:solidFill>
                  <a:srgbClr val="D8DFFF"/>
                </a:solidFill>
                <a:latin typeface="Segoe UI"/>
              </a:rPr>
              <a:t>Application mobile Flutter  ·  Vidéo temps réel LiveKit  ·  Docker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49640" y="2286000"/>
            <a:ext cx="3291840" cy="2926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2CC68D"/>
                </a:solidFill>
                <a:latin typeface="Segoe UI"/>
              </a:rPr>
              <a:t>PLATEFORME WEB + MOBILE</a:t>
            </a:r>
          </a:p>
          <a:p>
            <a:pPr algn="l"/>
            <a:r>
              <a:rPr sz="2200" b="1" i="0">
                <a:solidFill>
                  <a:srgbClr val="FFFFFF"/>
                </a:solidFill>
                <a:latin typeface="Segoe UI"/>
              </a:rPr>
              <a:t>Juin 2026</a:t>
            </a:r>
          </a:p>
          <a:p>
            <a:pPr algn="l"/>
            <a:r>
              <a:rPr sz="6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/>
            <a:r>
              <a:rPr sz="1000" b="1" i="0">
                <a:solidFill>
                  <a:srgbClr val="9FB0F0"/>
                </a:solidFill>
                <a:latin typeface="Segoe UI"/>
              </a:rPr>
              <a:t>Périmètre</a:t>
            </a:r>
          </a:p>
          <a:p>
            <a:pPr algn="l"/>
            <a:r>
              <a:rPr sz="1300" b="0" i="0">
                <a:solidFill>
                  <a:srgbClr val="FFFFFF"/>
                </a:solidFill>
                <a:latin typeface="Segoe UI"/>
              </a:rPr>
              <a:t>3 espaces · de bout en bout</a:t>
            </a:r>
          </a:p>
          <a:p>
            <a:pPr algn="l"/>
            <a:r>
              <a:rPr sz="5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/>
            <a:r>
              <a:rPr sz="1000" b="1" i="0">
                <a:solidFill>
                  <a:srgbClr val="9FB0F0"/>
                </a:solidFill>
                <a:latin typeface="Segoe UI"/>
              </a:rPr>
              <a:t>Package</a:t>
            </a:r>
          </a:p>
          <a:p>
            <a:pPr algn="l"/>
            <a:r>
              <a:rPr sz="1200" b="0" i="0">
                <a:solidFill>
                  <a:srgbClr val="FFFFFF"/>
                </a:solidFill>
                <a:latin typeface="Segoe UI"/>
              </a:rPr>
              <a:t>com.irt42.telemedecine</a:t>
            </a:r>
          </a:p>
          <a:p>
            <a:pPr algn="l"/>
            <a:r>
              <a:rPr sz="500" b="0" i="0">
                <a:solidFill>
                  <a:srgbClr val="FFFFFF"/>
                </a:solidFill>
                <a:latin typeface="Segoe UI"/>
              </a:rPr>
              <a:t> </a:t>
            </a:r>
          </a:p>
          <a:p>
            <a:pPr algn="l"/>
            <a:r>
              <a:rPr sz="1000" b="1" i="0">
                <a:solidFill>
                  <a:srgbClr val="9FB0F0"/>
                </a:solidFill>
                <a:latin typeface="Segoe UI"/>
              </a:rPr>
              <a:t>Statut</a:t>
            </a:r>
          </a:p>
          <a:p>
            <a:pPr algn="l"/>
            <a:r>
              <a:rPr sz="1250" b="1" i="0">
                <a:solidFill>
                  <a:srgbClr val="2CC68D"/>
                </a:solidFill>
                <a:latin typeface="Segoe UI"/>
              </a:rPr>
              <a:t>Fonctionnel &amp; dockerisé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109728" cy="45720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74320"/>
            <a:ext cx="9601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A56C1"/>
                </a:solidFill>
                <a:latin typeface="Segoe UI"/>
              </a:rPr>
              <a:t>01 · CONTEXTE &amp; OBJECTIFS</a:t>
            </a:r>
          </a:p>
          <a:p>
            <a:pPr algn="l"/>
            <a:r>
              <a:rPr sz="2500" b="1" i="0">
                <a:solidFill>
                  <a:srgbClr val="1F2937"/>
                </a:solidFill>
                <a:latin typeface="Segoe UI"/>
              </a:rPr>
              <a:t>Le problème, et nos trois espaces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384048"/>
            <a:ext cx="566928" cy="420624"/>
          </a:xfrm>
          <a:prstGeom prst="roundRect">
            <a:avLst>
              <a:gd name="adj" fmla="val 35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A56C1"/>
                </a:solidFill>
                <a:latin typeface="Segoe U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Telemedecine — Plateforme de téléconsultation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556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"/>
              </a:rPr>
              <a:t>Web · Mobile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417320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Segoe UI"/>
              </a:rPr>
              <a:t>L'accès aux soins se heurte à la distance, aux délais et à la dispersion de l'information médicale.</a:t>
            </a:r>
          </a:p>
          <a:p>
            <a:pPr algn="l"/>
            <a:r>
              <a:rPr sz="1250" b="0" i="0">
                <a:solidFill>
                  <a:srgbClr val="6B7280"/>
                </a:solidFill>
                <a:latin typeface="Segoe UI"/>
              </a:rPr>
              <a:t>Notre réponse : une plateforme unique, sécurisée et bilingue couvrant tout le parcours de soin pour trois profils.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514600"/>
            <a:ext cx="35204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514600"/>
            <a:ext cx="3520440" cy="146304"/>
          </a:xfrm>
          <a:prstGeom prst="roundRect">
            <a:avLst/>
          </a:prstGeom>
          <a:solidFill>
            <a:srgbClr val="2CC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15568" y="28346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  <a:latin typeface="Segoe UI"/>
              </a:rPr>
              <a:t>🧑  Patient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3520440"/>
            <a:ext cx="29718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Recherche de médecin &amp; prise de RDV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Dossier médical &amp; ordonnances (PDF)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Téléconsultation vidéo + messagerie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Paiement &amp; demande de remboursement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Notation du médecin après consultation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99432" y="2514600"/>
            <a:ext cx="35204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599432" y="2514600"/>
            <a:ext cx="3520440" cy="14630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92040" y="28346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  <a:latin typeface="Segoe UI"/>
              </a:rPr>
              <a:t>🧑‍⚕️  Médecin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92040" y="3520440"/>
            <a:ext cx="29718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Agenda &amp; disponibilités hebdomadaires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Consultation vidéo + notes cliniques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Ordonnances &amp; rapports PDF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Suivi des patients et des revenus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Note moyenne affichée sur le profil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375904" y="2514600"/>
            <a:ext cx="3520440" cy="3611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375904" y="2514600"/>
            <a:ext cx="3520440" cy="146304"/>
          </a:xfrm>
          <a:prstGeom prst="roundRect">
            <a:avLst/>
          </a:prstGeom>
          <a:solidFill>
            <a:srgbClr val="FFA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668512" y="2834640"/>
            <a:ext cx="2971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 i="0">
                <a:solidFill>
                  <a:srgbClr val="1F2937"/>
                </a:solidFill>
                <a:latin typeface="Segoe UI"/>
              </a:rPr>
              <a:t>🛡️  Administrateur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68512" y="3520440"/>
            <a:ext cx="29718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FFA726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Tableau de bord KPI en direct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FFA726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Vérification des médecins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FFA726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Validation des remboursements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FFA726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Gestion des comptes (activer/suspendre)</a:t>
            </a:r>
          </a:p>
          <a:p>
            <a:pPr algn="l">
              <a:lnSpc>
                <a:spcPct val="104000"/>
              </a:lnSpc>
              <a:spcBef>
                <a:spcPts val="800"/>
              </a:spcBef>
            </a:pPr>
            <a:r>
              <a:rPr sz="1050" b="1" i="0">
                <a:solidFill>
                  <a:srgbClr val="FFA726"/>
                </a:solidFill>
                <a:latin typeface="Segoe UI"/>
              </a:rPr>
              <a:t>●  </a:t>
            </a:r>
            <a:r>
              <a:rPr sz="1150" b="0" i="0">
                <a:solidFill>
                  <a:srgbClr val="1F2937"/>
                </a:solidFill>
                <a:latin typeface="Segoe UI"/>
              </a:rPr>
              <a:t>Rapports d'activité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109728" cy="45720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74320"/>
            <a:ext cx="9601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A56C1"/>
                </a:solidFill>
                <a:latin typeface="Segoe UI"/>
              </a:rPr>
              <a:t>02 · ARCHITECTURE</a:t>
            </a:r>
          </a:p>
          <a:p>
            <a:pPr algn="l"/>
            <a:r>
              <a:rPr sz="2500" b="1" i="0">
                <a:solidFill>
                  <a:srgbClr val="1F2937"/>
                </a:solidFill>
                <a:latin typeface="Segoe UI"/>
              </a:rPr>
              <a:t>Topologie &amp; pile technologique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384048"/>
            <a:ext cx="566928" cy="420624"/>
          </a:xfrm>
          <a:prstGeom prst="roundRect">
            <a:avLst>
              <a:gd name="adj" fmla="val 35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A56C1"/>
                </a:solidFill>
                <a:latin typeface="Segoe U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Telemedecine — Plateforme de téléconsultation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556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"/>
              </a:rPr>
              <a:t>Web · Mobile ·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600200"/>
            <a:ext cx="1920240" cy="77724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00200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Web (SPA)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Angular 21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97480"/>
            <a:ext cx="1920240" cy="777240"/>
          </a:xfrm>
          <a:prstGeom prst="roundRect">
            <a:avLst/>
          </a:prstGeom>
          <a:solidFill>
            <a:srgbClr val="2CC68D"/>
          </a:solidFill>
          <a:ln>
            <a:noFill/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173736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Mobile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Flutter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2011680"/>
            <a:ext cx="1783080" cy="1280160"/>
          </a:xfrm>
          <a:prstGeom prst="roundRect">
            <a:avLst/>
          </a:prstGeom>
          <a:solidFill>
            <a:srgbClr val="1F2937"/>
          </a:solidFill>
          <a:ln>
            <a:noFill/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71800" y="2011680"/>
            <a:ext cx="1600200" cy="12801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nginx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proxy même origine
/api · /ws · /lk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74920" y="1417320"/>
            <a:ext cx="1828800" cy="731520"/>
          </a:xfrm>
          <a:prstGeom prst="roundRect">
            <a:avLst/>
          </a:prstGeom>
          <a:solidFill>
            <a:srgbClr val="283C8C"/>
          </a:solidFill>
          <a:ln>
            <a:noFill/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66360" y="141732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Backend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Spring Boot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74920" y="2331720"/>
            <a:ext cx="1828800" cy="731520"/>
          </a:xfrm>
          <a:prstGeom prst="roundRect">
            <a:avLst/>
          </a:prstGeom>
          <a:solidFill>
            <a:srgbClr val="336791"/>
          </a:solidFill>
          <a:ln>
            <a:noFill/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66360" y="233172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PostgreSQL 16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Flyway V1→V10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74920" y="3246120"/>
            <a:ext cx="1828800" cy="731520"/>
          </a:xfrm>
          <a:prstGeom prst="roundRect">
            <a:avLst/>
          </a:prstGeom>
          <a:solidFill>
            <a:srgbClr val="7A4FC0"/>
          </a:solidFill>
          <a:ln>
            <a:noFill/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66360" y="324612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LiveKit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vidéo SFU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74920" y="4160520"/>
            <a:ext cx="1828800" cy="731520"/>
          </a:xfrm>
          <a:prstGeom prst="roundRect">
            <a:avLst/>
          </a:prstGeom>
          <a:solidFill>
            <a:srgbClr val="6B7280"/>
          </a:solidFill>
          <a:ln>
            <a:noFill/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66360" y="4160520"/>
            <a:ext cx="16459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Segoe UI"/>
              </a:rPr>
              <a:t>MailHog</a:t>
            </a:r>
          </a:p>
          <a:p>
            <a:pPr algn="ctr"/>
            <a:r>
              <a:rPr sz="950" b="0" i="0">
                <a:solidFill>
                  <a:srgbClr val="FFFFFF"/>
                </a:solidFill>
                <a:latin typeface="Segoe UI"/>
              </a:rPr>
              <a:t>SMTP (dev)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2560320" y="1965960"/>
            <a:ext cx="320040" cy="411480"/>
          </a:xfrm>
          <a:prstGeom prst="bentConnector3">
            <a:avLst/>
          </a:prstGeom>
          <a:ln w="25400">
            <a:solidFill>
              <a:srgbClr val="3A56C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2560320" y="2834640"/>
            <a:ext cx="320040" cy="228600"/>
          </a:xfrm>
          <a:prstGeom prst="bentConnector3">
            <a:avLst/>
          </a:prstGeom>
          <a:ln w="25400">
            <a:solidFill>
              <a:srgbClr val="2CC68D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4663440" y="1783080"/>
            <a:ext cx="411480" cy="594360"/>
          </a:xfrm>
          <a:prstGeom prst="bentConnector3">
            <a:avLst/>
          </a:prstGeom>
          <a:ln w="25400">
            <a:solidFill>
              <a:srgbClr val="283C8C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4663440" y="2651760"/>
            <a:ext cx="411480" cy="45720"/>
          </a:xfrm>
          <a:prstGeom prst="bentConnector3">
            <a:avLst/>
          </a:prstGeom>
          <a:ln w="25400">
            <a:solidFill>
              <a:srgbClr val="33679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4663440" y="2926080"/>
            <a:ext cx="411480" cy="685800"/>
          </a:xfrm>
          <a:prstGeom prst="bentConnector3">
            <a:avLst/>
          </a:prstGeom>
          <a:ln w="25400">
            <a:solidFill>
              <a:srgbClr val="7A4FC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640080" y="5212080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Segoe UI"/>
              </a:rPr>
              <a:t>Le client ne parle qu'à sa propre origine : nginx relaie API, WebSocket et LiveKit.</a:t>
            </a:r>
          </a:p>
          <a:p>
            <a:pPr algn="l"/>
            <a:r>
              <a:rPr sz="1050" b="0" i="0">
                <a:solidFill>
                  <a:srgbClr val="6B7280"/>
                </a:solidFill>
                <a:latin typeface="Segoe UI"/>
              </a:rPr>
              <a:t>Une seule URL, aucun CORS, HTTPS terminé par nginx, démontable en une commande Docker.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315200" y="1417320"/>
            <a:ext cx="4297680" cy="4617720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7543800" y="1737360"/>
            <a:ext cx="91440" cy="713232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0" y="1691640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Segoe UI"/>
              </a:rPr>
              <a:t>Frontend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100" b="0" i="0">
                <a:solidFill>
                  <a:srgbClr val="6B7280"/>
                </a:solidFill>
                <a:latin typeface="Segoe UI"/>
              </a:rPr>
              <a:t>Angular 21 · Signals · Tailwind 4 · i18n FR/EN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2624328"/>
            <a:ext cx="91440" cy="713232"/>
          </a:xfrm>
          <a:prstGeom prst="roundRect">
            <a:avLst/>
          </a:prstGeom>
          <a:solidFill>
            <a:srgbClr val="283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0" y="2578608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Segoe UI"/>
              </a:rPr>
              <a:t>Backend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100" b="0" i="0">
                <a:solidFill>
                  <a:srgbClr val="6B7280"/>
                </a:solidFill>
                <a:latin typeface="Segoe UI"/>
              </a:rPr>
              <a:t>Spring Boot 3.5 / Java 21 · monolithe modulaire · OpenPDF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3511296"/>
            <a:ext cx="91440" cy="713232"/>
          </a:xfrm>
          <a:prstGeom prst="roundRect">
            <a:avLst/>
          </a:prstGeom>
          <a:solidFill>
            <a:srgbClr val="FFA7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772400" y="3465576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Segoe UI"/>
              </a:rPr>
              <a:t>Sécurité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100" b="0" i="0">
                <a:solidFill>
                  <a:srgbClr val="6B7280"/>
                </a:solidFill>
                <a:latin typeface="Segoe UI"/>
              </a:rPr>
              <a:t>JWT + refresh · 2FA TOTP · BCrypt · HTTPS (PKI/CA)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543800" y="4398264"/>
            <a:ext cx="91440" cy="713232"/>
          </a:xfrm>
          <a:prstGeom prst="roundRect">
            <a:avLst/>
          </a:prstGeom>
          <a:solidFill>
            <a:srgbClr val="3367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772400" y="4352544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Segoe UI"/>
              </a:rPr>
              <a:t>Données &amp; temps réel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100" b="0" i="0">
                <a:solidFill>
                  <a:srgbClr val="6B7280"/>
                </a:solidFill>
                <a:latin typeface="Segoe UI"/>
              </a:rPr>
              <a:t>PostgreSQL 16 · Flyway · WebSocket · LiveKit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543800" y="5285232"/>
            <a:ext cx="91440" cy="713232"/>
          </a:xfrm>
          <a:prstGeom prst="roundRect">
            <a:avLst/>
          </a:prstGeom>
          <a:solidFill>
            <a:srgbClr val="2CC68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0" y="5239512"/>
            <a:ext cx="3657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 i="0">
                <a:solidFill>
                  <a:srgbClr val="1F2937"/>
                </a:solidFill>
                <a:latin typeface="Segoe UI"/>
              </a:rPr>
              <a:t>Mobile &amp; DevOps</a:t>
            </a:r>
          </a:p>
          <a:p>
            <a:pPr algn="l">
              <a:lnSpc>
                <a:spcPct val="104000"/>
              </a:lnSpc>
              <a:spcBef>
                <a:spcPts val="300"/>
              </a:spcBef>
            </a:pPr>
            <a:r>
              <a:rPr sz="1100" b="0" i="0">
                <a:solidFill>
                  <a:srgbClr val="6B7280"/>
                </a:solidFill>
                <a:latin typeface="Segoe UI"/>
              </a:rPr>
              <a:t>Flutter (Dio) · Docker Compose · ArchUnit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109728" cy="45720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74320"/>
            <a:ext cx="9601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A56C1"/>
                </a:solidFill>
                <a:latin typeface="Segoe UI"/>
              </a:rPr>
              <a:t>02 · ARCHITECTURE</a:t>
            </a:r>
          </a:p>
          <a:p>
            <a:pPr algn="l"/>
            <a:r>
              <a:rPr sz="2500" b="1" i="0">
                <a:solidFill>
                  <a:srgbClr val="1F2937"/>
                </a:solidFill>
                <a:latin typeface="Segoe UI"/>
              </a:rPr>
              <a:t>Backend modulaire &amp; sécurité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384048"/>
            <a:ext cx="566928" cy="420624"/>
          </a:xfrm>
          <a:prstGeom prst="roundRect">
            <a:avLst>
              <a:gd name="adj" fmla="val 35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A56C1"/>
                </a:solidFill>
                <a:latin typeface="Segoe UI"/>
              </a:rPr>
              <a:t>04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Telemedecine — Plateforme de téléconsultation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556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"/>
              </a:rPr>
              <a:t>Web · Mobile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371600"/>
            <a:ext cx="106070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F2937"/>
                </a:solidFill>
                <a:latin typeface="Segoe UI"/>
              </a:rPr>
              <a:t>Un seul déployable, organisé en modules de contexte borné — découpes acycliques vérifiées par ArchUnit.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057400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22960" y="2176272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24128" y="2148840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auth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Comptes, rôles, JWT, 2FA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25696" y="2057400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425696" y="2176272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26864" y="2148840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patient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Profil &amp; dossier médical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28432" y="2057400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28432" y="2176272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2148840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doctor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Profil, spécialités, diplômes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2953512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22960" y="3072384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4128" y="3044952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appointment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RDV, créneaux, notation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425696" y="2953512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425696" y="3072384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626864" y="3044952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consultation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Vidéo, chat, notes, rapports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28432" y="2953512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028432" y="3072384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9600" y="3044952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prescription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Ordonnances + PDF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3849624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822960" y="3968496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24128" y="3941064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payment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Factures &amp; remboursements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425696" y="3849624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4425696" y="3968496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626864" y="3941064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notification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Feed + e-mail miroir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028432" y="3849624"/>
            <a:ext cx="3456432" cy="749808"/>
          </a:xfrm>
          <a:prstGeom prst="roundRect">
            <a:avLst/>
          </a:prstGeom>
          <a:solidFill>
            <a:srgbClr val="F6F7FB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028432" y="3968496"/>
            <a:ext cx="54864" cy="512064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229600" y="3941064"/>
            <a:ext cx="3136392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admin</a:t>
            </a:r>
          </a:p>
          <a:p>
            <a:pPr algn="l"/>
            <a:r>
              <a:rPr sz="1000" b="0" i="0">
                <a:solidFill>
                  <a:srgbClr val="6B7280"/>
                </a:solidFill>
                <a:latin typeface="Segoe UI"/>
              </a:rPr>
              <a:t>Vérif, métriques, comptes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22960" y="5074920"/>
            <a:ext cx="10561320" cy="960120"/>
          </a:xfrm>
          <a:prstGeom prst="roundRect">
            <a:avLst/>
          </a:prstGeom>
          <a:solidFill>
            <a:srgbClr val="EEF1FF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97280" y="5138928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1" i="0">
                <a:solidFill>
                  <a:srgbClr val="3A56C1"/>
                </a:solidFill>
                <a:latin typeface="Segoe UI"/>
              </a:rPr>
              <a:t>Sécurité : </a:t>
            </a:r>
            <a:r>
              <a:rPr sz="1200" b="0" i="0">
                <a:solidFill>
                  <a:srgbClr val="1F2937"/>
                </a:solidFill>
                <a:latin typeface="Segoe UI"/>
              </a:rPr>
              <a:t>JWT (accès court + refresh à rotation) · 2FA TOTP · BCrypt · multi-rôles Spring Security.</a:t>
            </a:r>
          </a:p>
          <a:p>
            <a:pPr algn="l">
              <a:spcBef>
                <a:spcPts val="500"/>
              </a:spcBef>
            </a:pPr>
            <a:r>
              <a:rPr sz="1250" b="1" i="0">
                <a:solidFill>
                  <a:srgbClr val="3A56C1"/>
                </a:solidFill>
                <a:latin typeface="Segoe UI"/>
              </a:rPr>
              <a:t>HTTPS via PKI du projet : </a:t>
            </a:r>
            <a:r>
              <a:rPr sz="1200" b="0" i="0">
                <a:solidFill>
                  <a:srgbClr val="1F2937"/>
                </a:solidFill>
                <a:latin typeface="Segoe UI"/>
              </a:rPr>
              <a:t>CA locale → cert serveur (SAN = IP) terminé par nginx — requis pour caméra/micro (getUserMedia). Audit JPA + RFC-7807.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4434840"/>
            <a:ext cx="105613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1F2937"/>
                </a:solidFill>
                <a:latin typeface="Segoe UI"/>
              </a:rPr>
              <a:t>Chaque module : </a:t>
            </a:r>
            <a:r>
              <a:rPr sz="1150" b="0" i="0">
                <a:solidFill>
                  <a:srgbClr val="6B7280"/>
                </a:solidFill>
                <a:latin typeface="Segoe UI"/>
              </a:rPr>
              <a:t>api (REST) → application (métier) → domain (entités JPA) → infrastructure (repositories).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109728" cy="45720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74320"/>
            <a:ext cx="9601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A56C1"/>
                </a:solidFill>
                <a:latin typeface="Segoe UI"/>
              </a:rPr>
              <a:t>03 · FONCTIONNALITÉS</a:t>
            </a:r>
          </a:p>
          <a:p>
            <a:pPr algn="l"/>
            <a:r>
              <a:rPr sz="2500" b="1" i="0">
                <a:solidFill>
                  <a:srgbClr val="1F2937"/>
                </a:solidFill>
                <a:latin typeface="Segoe UI"/>
              </a:rPr>
              <a:t>Fonctionnalités clés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384048"/>
            <a:ext cx="566928" cy="420624"/>
          </a:xfrm>
          <a:prstGeom prst="roundRect">
            <a:avLst>
              <a:gd name="adj" fmla="val 35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A56C1"/>
                </a:solidFill>
                <a:latin typeface="Segoe UI"/>
              </a:rPr>
              <a:t>05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Telemedecine — Plateforme de téléconsultation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556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"/>
              </a:rPr>
              <a:t>Web · Mobile ·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554480"/>
            <a:ext cx="34564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1078992" y="182880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400">
                <a:latin typeface="Segoe UI"/>
              </a:rPr>
              <a:t>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97480"/>
            <a:ext cx="2953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Segoe UI"/>
              </a:rPr>
              <a:t>Téléconsultation vidéo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80" b="0" i="0">
                <a:solidFill>
                  <a:srgbClr val="6B7280"/>
                </a:solidFill>
                <a:latin typeface="Segoe UI"/>
              </a:rPr>
              <a:t>LiveKit auto-hébergé, jeton forgé côté backend, proxy /lk (wss), pré-vol caméra/micro.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25696" y="1554480"/>
            <a:ext cx="34564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681728" y="182880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400">
                <a:latin typeface="Segoe UI"/>
              </a:rPr>
              <a:t>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0016" y="2697480"/>
            <a:ext cx="2953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Segoe UI"/>
              </a:rPr>
              <a:t>Messagerie temps réel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80" b="0" i="0">
                <a:solidFill>
                  <a:srgbClr val="6B7280"/>
                </a:solidFill>
                <a:latin typeface="Segoe UI"/>
              </a:rPr>
              <a:t>Patient ↔ médecin via WebSocket (repli polling), interface façon messagerie moderne.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28432" y="1554480"/>
            <a:ext cx="34564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284464" y="182880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400">
                <a:latin typeface="Segoe UI"/>
              </a:rPr>
              <a:t>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697480"/>
            <a:ext cx="2953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Segoe UI"/>
              </a:rPr>
              <a:t>Ordonnances &amp; PDF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80" b="0" i="0">
                <a:solidFill>
                  <a:srgbClr val="6B7280"/>
                </a:solidFill>
                <a:latin typeface="Segoe UI"/>
              </a:rPr>
              <a:t>Émission depuis le RDV, notification au patient, PDF (OpenPDF) téléchargeable.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840480"/>
            <a:ext cx="34564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78992" y="411480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400">
                <a:latin typeface="Segoe UI"/>
              </a:rPr>
              <a:t>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97280" y="4983480"/>
            <a:ext cx="2953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Segoe UI"/>
              </a:rPr>
              <a:t>Paiement &amp; remboursement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80" b="0" i="0">
                <a:solidFill>
                  <a:srgbClr val="6B7280"/>
                </a:solidFill>
                <a:latin typeface="Segoe UI"/>
              </a:rPr>
              <a:t>Paiement unique (mobile money), demande de remboursement validée par l'admin.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25696" y="3840480"/>
            <a:ext cx="34564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681728" y="411480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400">
                <a:latin typeface="Segoe UI"/>
              </a:rPr>
              <a:t>⭐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0016" y="4983480"/>
            <a:ext cx="2953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Segoe UI"/>
              </a:rPr>
              <a:t>Notation des médecins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80" b="0" i="0">
                <a:solidFill>
                  <a:srgbClr val="6B7280"/>
                </a:solidFill>
                <a:latin typeface="Segoe UI"/>
              </a:rPr>
              <a:t>Le patient note (1–5) après consultation ; moyenne affichée sur recherche &amp; profil.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28432" y="3840480"/>
            <a:ext cx="3456432" cy="21031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84464" y="4114800"/>
            <a:ext cx="731520" cy="731520"/>
          </a:xfrm>
          <a:prstGeom prst="roundRect">
            <a:avLst>
              <a:gd name="adj" fmla="val 30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2400">
                <a:latin typeface="Segoe UI"/>
              </a:rPr>
              <a:t>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02752" y="4983480"/>
            <a:ext cx="2953512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F2937"/>
                </a:solidFill>
                <a:latin typeface="Segoe UI"/>
              </a:rPr>
              <a:t>Bilingue FR / EN</a:t>
            </a:r>
          </a:p>
          <a:p>
            <a:pPr algn="l">
              <a:lnSpc>
                <a:spcPct val="105000"/>
              </a:lnSpc>
              <a:spcBef>
                <a:spcPts val="400"/>
              </a:spcBef>
            </a:pPr>
            <a:r>
              <a:rPr sz="1080" b="0" i="0">
                <a:solidFill>
                  <a:srgbClr val="6B7280"/>
                </a:solidFill>
                <a:latin typeface="Segoe UI"/>
              </a:rPr>
              <a:t>Bascule à l'exécution sans rechargement (LocaleService + pipe de traduction).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F7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109728" cy="45720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74320"/>
            <a:ext cx="9601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A56C1"/>
                </a:solidFill>
                <a:latin typeface="Segoe UI"/>
              </a:rPr>
              <a:t>04 · DÉMONSTRATION</a:t>
            </a:r>
          </a:p>
          <a:p>
            <a:pPr algn="l"/>
            <a:r>
              <a:rPr sz="2500" b="1" i="0">
                <a:solidFill>
                  <a:srgbClr val="1F2937"/>
                </a:solidFill>
                <a:latin typeface="Segoe UI"/>
              </a:rPr>
              <a:t>Tableaux de bord en direct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384048"/>
            <a:ext cx="566928" cy="420624"/>
          </a:xfrm>
          <a:prstGeom prst="roundRect">
            <a:avLst>
              <a:gd name="adj" fmla="val 35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A56C1"/>
                </a:solidFill>
                <a:latin typeface="Segoe UI"/>
              </a:rPr>
              <a:t>06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Telemedecine — Plateforme de téléconsultation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556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"/>
              </a:rPr>
              <a:t>Web · Mobile ·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85216" y="1499616"/>
            <a:ext cx="2653813" cy="3493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Patient 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54480"/>
            <a:ext cx="2544085" cy="338328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40080" y="52578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2937"/>
                </a:solidFill>
                <a:latin typeface="Segoe UI"/>
              </a:rPr>
              <a:t>Patient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499616"/>
            <a:ext cx="2657804" cy="3493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Doctor 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6552" y="1554480"/>
            <a:ext cx="2548076" cy="3383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416552" y="52578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2937"/>
                </a:solidFill>
                <a:latin typeface="Segoe UI"/>
              </a:rPr>
              <a:t>Médecin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38160" y="1499616"/>
            <a:ext cx="2115460" cy="349300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Admin 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554480"/>
            <a:ext cx="2005732" cy="33832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8193024" y="5257800"/>
            <a:ext cx="3611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1" i="0">
                <a:solidFill>
                  <a:srgbClr val="1F2937"/>
                </a:solidFill>
                <a:latin typeface="Segoe UI"/>
              </a:rPr>
              <a:t>Administrateur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7150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50" b="0" i="1">
                <a:solidFill>
                  <a:srgbClr val="6B7280"/>
                </a:solidFill>
                <a:latin typeface="Segoe UI"/>
              </a:rPr>
              <a:t>Toutes les données proviennent de la base en temps réel — aucun contenu statique : KPIs, plannings, files du jour et transactions.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109728" cy="45720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74320"/>
            <a:ext cx="9601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A56C1"/>
                </a:solidFill>
                <a:latin typeface="Segoe UI"/>
              </a:rPr>
              <a:t>04 · DÉMONSTRATION</a:t>
            </a:r>
          </a:p>
          <a:p>
            <a:pPr algn="l"/>
            <a:r>
              <a:rPr sz="2500" b="1" i="0">
                <a:solidFill>
                  <a:srgbClr val="1F2937"/>
                </a:solidFill>
                <a:latin typeface="Segoe UI"/>
              </a:rPr>
              <a:t>Application mobile &amp; temps forts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384048"/>
            <a:ext cx="566928" cy="420624"/>
          </a:xfrm>
          <a:prstGeom prst="roundRect">
            <a:avLst>
              <a:gd name="adj" fmla="val 35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A56C1"/>
                </a:solidFill>
                <a:latin typeface="Segoe UI"/>
              </a:rPr>
              <a:t>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Telemedecine — Plateforme de téléconsultation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556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"/>
              </a:rPr>
              <a:t>Web · Mobile ·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1554480"/>
            <a:ext cx="5486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50" b="1" i="0">
                <a:solidFill>
                  <a:srgbClr val="2CC68D"/>
                </a:solidFill>
                <a:latin typeface="Segoe UI"/>
              </a:rPr>
              <a:t>Le soin dans la poche — Flutter, HTTPS de bout en bout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40280"/>
            <a:ext cx="539496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1000"/>
              </a:spcBef>
            </a:pPr>
            <a:r>
              <a:rPr sz="12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250" b="0" i="0">
                <a:solidFill>
                  <a:srgbClr val="1F2937"/>
                </a:solidFill>
                <a:latin typeface="Segoe UI"/>
              </a:rPr>
              <a:t>Prise de RDV et téléconsultation vidéo depuis le mobile.</a:t>
            </a:r>
          </a:p>
          <a:p>
            <a:pPr algn="l">
              <a:lnSpc>
                <a:spcPct val="106000"/>
              </a:lnSpc>
              <a:spcBef>
                <a:spcPts val="1000"/>
              </a:spcBef>
            </a:pPr>
            <a:r>
              <a:rPr sz="12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250" b="0" i="0">
                <a:solidFill>
                  <a:srgbClr val="1F2937"/>
                </a:solidFill>
                <a:latin typeface="Segoe UI"/>
              </a:rPr>
              <a:t>Ordonnances et dossier médical consultables.</a:t>
            </a:r>
          </a:p>
          <a:p>
            <a:pPr algn="l">
              <a:lnSpc>
                <a:spcPct val="106000"/>
              </a:lnSpc>
              <a:spcBef>
                <a:spcPts val="1000"/>
              </a:spcBef>
            </a:pPr>
            <a:r>
              <a:rPr sz="12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250" b="0" i="0">
                <a:solidFill>
                  <a:srgbClr val="1F2937"/>
                </a:solidFill>
                <a:latin typeface="Segoe UI"/>
              </a:rPr>
              <a:t>Feed d'alertes in-app (relais des notifications).</a:t>
            </a:r>
          </a:p>
          <a:p>
            <a:pPr algn="l">
              <a:lnSpc>
                <a:spcPct val="106000"/>
              </a:lnSpc>
              <a:spcBef>
                <a:spcPts val="1000"/>
              </a:spcBef>
            </a:pPr>
            <a:r>
              <a:rPr sz="12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250" b="0" i="0">
                <a:solidFill>
                  <a:srgbClr val="1F2937"/>
                </a:solidFill>
                <a:latin typeface="Segoe UI"/>
              </a:rPr>
              <a:t>Confiance du certificat de la CA du projet (Dio + LiveKit wss).</a:t>
            </a:r>
          </a:p>
          <a:p>
            <a:pPr algn="l">
              <a:lnSpc>
                <a:spcPct val="106000"/>
              </a:lnSpc>
              <a:spcBef>
                <a:spcPts val="1000"/>
              </a:spcBef>
            </a:pPr>
            <a:r>
              <a:rPr sz="12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250" b="0" i="0">
                <a:solidFill>
                  <a:srgbClr val="1F2937"/>
                </a:solidFill>
                <a:latin typeface="Segoe UI"/>
              </a:rPr>
              <a:t>Stockage de session sécurisé ; autofill des mots de passe.</a:t>
            </a:r>
          </a:p>
          <a:p>
            <a:pPr algn="l">
              <a:lnSpc>
                <a:spcPct val="106000"/>
              </a:lnSpc>
              <a:spcBef>
                <a:spcPts val="1000"/>
              </a:spcBef>
            </a:pPr>
            <a:r>
              <a:rPr sz="12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250" b="0" i="0">
                <a:solidFill>
                  <a:srgbClr val="1F2937"/>
                </a:solidFill>
                <a:latin typeface="Segoe UI"/>
              </a:rPr>
              <a:t>Médecins/admins : redirigés vers le portail web.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754250" y="1463040"/>
            <a:ext cx="4224390" cy="4663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6F0"/>
            </a:solidFill>
          </a:ln>
          <a:effectLst/>
          <a:effectLst>
            <a:outerShdw blurRad="90000" dist="40000" dir="5400000" rotWithShape="0">
              <a:srgbClr val="1F2937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reenshot from 2026-06-10 15-33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5690" y="1554480"/>
            <a:ext cx="4041510" cy="44805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27940"/>
          </a:xfrm>
          <a:prstGeom prst="rect">
            <a:avLst/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502920" y="365760"/>
            <a:ext cx="109728" cy="45720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49808" y="274320"/>
            <a:ext cx="9601200" cy="8229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50" b="1" i="0">
                <a:solidFill>
                  <a:srgbClr val="3A56C1"/>
                </a:solidFill>
                <a:latin typeface="Segoe UI"/>
              </a:rPr>
              <a:t>05 · BILAN</a:t>
            </a:r>
          </a:p>
          <a:p>
            <a:pPr algn="l"/>
            <a:r>
              <a:rPr sz="2500" b="1" i="0">
                <a:solidFill>
                  <a:srgbClr val="1F2937"/>
                </a:solidFill>
                <a:latin typeface="Segoe UI"/>
              </a:rPr>
              <a:t>Bilan, perspectives — merci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292840" y="384048"/>
            <a:ext cx="566928" cy="420624"/>
          </a:xfrm>
          <a:prstGeom prst="roundRect">
            <a:avLst>
              <a:gd name="adj" fmla="val 35000"/>
            </a:avLst>
          </a:prstGeom>
          <a:solidFill>
            <a:srgbClr val="EE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0" bIns="0"/>
          <a:lstStyle/>
          <a:p>
            <a:pPr algn="ctr"/>
            <a:r>
              <a:rPr sz="1200" b="1">
                <a:solidFill>
                  <a:srgbClr val="3A56C1"/>
                </a:solidFill>
                <a:latin typeface="Segoe UI"/>
              </a:rPr>
              <a:t>08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6455664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6B7280"/>
                </a:solidFill>
                <a:latin typeface="Segoe UI"/>
              </a:rPr>
              <a:t>Telemedecine — Plateforme de téléconsultation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0" y="6455664"/>
            <a:ext cx="2194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6B7280"/>
                </a:solidFill>
                <a:latin typeface="Segoe UI"/>
              </a:rPr>
              <a:t>Web · Mobile · 2026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1463040"/>
            <a:ext cx="5257800" cy="3703320"/>
          </a:xfrm>
          <a:prstGeom prst="roundRect">
            <a:avLst/>
          </a:prstGeom>
          <a:solidFill>
            <a:srgbClr val="ECFBF4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645920"/>
            <a:ext cx="47548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2CC68D"/>
                </a:solidFill>
                <a:latin typeface="Segoe UI"/>
              </a:rPr>
              <a:t>✓  Réalisé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194560"/>
            <a:ext cx="475488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700"/>
              </a:spcBef>
            </a:pPr>
            <a:r>
              <a:rPr sz="11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3 espaces web (patient/médecin/admin)</a:t>
            </a:r>
          </a:p>
          <a:p>
            <a:pPr algn="l">
              <a:lnSpc>
                <a:spcPct val="103000"/>
              </a:lnSpc>
              <a:spcBef>
                <a:spcPts val="700"/>
              </a:spcBef>
            </a:pPr>
            <a:r>
              <a:rPr sz="11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App mobile patient Flutter (HTTPS)</a:t>
            </a:r>
          </a:p>
          <a:p>
            <a:pPr algn="l">
              <a:lnSpc>
                <a:spcPct val="103000"/>
              </a:lnSpc>
              <a:spcBef>
                <a:spcPts val="700"/>
              </a:spcBef>
            </a:pPr>
            <a:r>
              <a:rPr sz="11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Vidéo, messagerie &amp; notifications temps réel</a:t>
            </a:r>
          </a:p>
          <a:p>
            <a:pPr algn="l">
              <a:lnSpc>
                <a:spcPct val="103000"/>
              </a:lnSpc>
              <a:spcBef>
                <a:spcPts val="700"/>
              </a:spcBef>
            </a:pPr>
            <a:r>
              <a:rPr sz="11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Ordonnances, rapports &amp; factures PDF</a:t>
            </a:r>
          </a:p>
          <a:p>
            <a:pPr algn="l">
              <a:lnSpc>
                <a:spcPct val="103000"/>
              </a:lnSpc>
              <a:spcBef>
                <a:spcPts val="700"/>
              </a:spcBef>
            </a:pPr>
            <a:r>
              <a:rPr sz="11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JWT + refresh + 2FA · paiement &amp; remboursement</a:t>
            </a:r>
          </a:p>
          <a:p>
            <a:pPr algn="l">
              <a:lnSpc>
                <a:spcPct val="103000"/>
              </a:lnSpc>
              <a:spcBef>
                <a:spcPts val="700"/>
              </a:spcBef>
            </a:pPr>
            <a:r>
              <a:rPr sz="11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Notation des médecins · i18n FR/EN</a:t>
            </a:r>
          </a:p>
          <a:p>
            <a:pPr algn="l">
              <a:lnSpc>
                <a:spcPct val="103000"/>
              </a:lnSpc>
              <a:spcBef>
                <a:spcPts val="700"/>
              </a:spcBef>
            </a:pPr>
            <a:r>
              <a:rPr sz="1100" b="1" i="0">
                <a:solidFill>
                  <a:srgbClr val="2CC68D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Stack 100% dockerisée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1463040"/>
            <a:ext cx="5029200" cy="3703320"/>
          </a:xfrm>
          <a:prstGeom prst="roundRect">
            <a:avLst/>
          </a:prstGeom>
          <a:solidFill>
            <a:srgbClr val="EEF1FF"/>
          </a:solidFill>
          <a:ln w="12700">
            <a:solidFill>
              <a:srgbClr val="E2E6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1645920"/>
            <a:ext cx="4572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3A56C1"/>
                </a:solidFill>
                <a:latin typeface="Segoe UI"/>
              </a:rPr>
              <a:t>→  Perspectives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2194560"/>
            <a:ext cx="4572000" cy="2834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800"/>
              </a:spcBef>
            </a:pPr>
            <a:r>
              <a:rPr sz="110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Paiement réel (Stripe / mobile money)</a:t>
            </a:r>
          </a:p>
          <a:p>
            <a:pPr algn="l">
              <a:lnSpc>
                <a:spcPct val="103000"/>
              </a:lnSpc>
              <a:spcBef>
                <a:spcPts val="800"/>
              </a:spcBef>
            </a:pPr>
            <a:r>
              <a:rPr sz="110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Stockage objet (S3 / MinIO) + chiffrement</a:t>
            </a:r>
          </a:p>
          <a:p>
            <a:pPr algn="l">
              <a:lnSpc>
                <a:spcPct val="103000"/>
              </a:lnSpc>
              <a:spcBef>
                <a:spcPts val="800"/>
              </a:spcBef>
            </a:pPr>
            <a:r>
              <a:rPr sz="110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Argon2id + gestion de secrets (KMS)</a:t>
            </a:r>
          </a:p>
          <a:p>
            <a:pPr algn="l">
              <a:lnSpc>
                <a:spcPct val="103000"/>
              </a:lnSpc>
              <a:spcBef>
                <a:spcPts val="800"/>
              </a:spcBef>
            </a:pPr>
            <a:r>
              <a:rPr sz="110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Notifications push natives (FCM/APNs)</a:t>
            </a:r>
          </a:p>
          <a:p>
            <a:pPr algn="l">
              <a:lnSpc>
                <a:spcPct val="103000"/>
              </a:lnSpc>
              <a:spcBef>
                <a:spcPts val="800"/>
              </a:spcBef>
            </a:pPr>
            <a:r>
              <a:rPr sz="110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Observabilité (traces, métriques, logs)</a:t>
            </a:r>
          </a:p>
          <a:p>
            <a:pPr algn="l">
              <a:lnSpc>
                <a:spcPct val="103000"/>
              </a:lnSpc>
              <a:spcBef>
                <a:spcPts val="800"/>
              </a:spcBef>
            </a:pPr>
            <a:r>
              <a:rPr sz="1100" b="1" i="0">
                <a:solidFill>
                  <a:srgbClr val="3A56C1"/>
                </a:solidFill>
                <a:latin typeface="Segoe UI"/>
              </a:rPr>
              <a:t>●  </a:t>
            </a:r>
            <a:r>
              <a:rPr sz="1180" b="0" i="0">
                <a:solidFill>
                  <a:srgbClr val="1F2937"/>
                </a:solidFill>
                <a:latin typeface="Segoe UI"/>
              </a:rPr>
              <a:t>Déploiement cloud + CI/CD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5349240"/>
            <a:ext cx="10515600" cy="868680"/>
          </a:xfrm>
          <a:prstGeom prst="roundRect">
            <a:avLst/>
          </a:prstGeom>
          <a:solidFill>
            <a:srgbClr val="3A56C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5349240"/>
            <a:ext cx="1051560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Segoe UI"/>
              </a:rPr>
              <a:t>Merci de votre attention — questions &amp; discussion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