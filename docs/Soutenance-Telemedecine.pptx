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023360" cy="6858000"/>
          </a:xfrm>
          <a:prstGeom prst="rect">
            <a:avLst/>
          </a:prstGeom>
          <a:solidFill>
            <a:srgbClr val="28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91440" cy="6858000"/>
          </a:xfrm>
          <a:prstGeom prst="rect">
            <a:avLst/>
          </a:prstGeom>
          <a:solidFill>
            <a:srgbClr val="2CC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097280"/>
            <a:ext cx="3291840" cy="3291840"/>
          </a:xfrm>
          <a:prstGeom prst="ellipse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206240"/>
            <a:ext cx="2926080" cy="2926080"/>
          </a:xfrm>
          <a:prstGeom prst="ellipse">
            <a:avLst/>
          </a:prstGeom>
          <a:solidFill>
            <a:srgbClr val="324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4000" b="1">
                <a:solidFill>
                  <a:srgbClr val="3A56C1"/>
                </a:solidFill>
                <a:latin typeface="Segoe UI"/>
              </a:rPr>
              <a:t>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841248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TELEMEDECINE</a:t>
            </a:r>
          </a:p>
          <a:p>
            <a:pPr algn="l"/>
            <a:r>
              <a:rPr sz="1200" b="0" i="0">
                <a:solidFill>
                  <a:srgbClr val="C7D2FF"/>
                </a:solidFill>
                <a:latin typeface="Segoe UI"/>
              </a:rPr>
              <a:t>Plateforme de téléconsultation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7D2FF"/>
                </a:solidFill>
                <a:latin typeface="Segoe UI"/>
              </a:rPr>
              <a:t>Conception et réalisation d'une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plateforme de télémédecine</a:t>
            </a:r>
          </a:p>
          <a:p>
            <a:pPr algn="l"/>
            <a:r>
              <a:rPr sz="1700" b="1" i="0">
                <a:solidFill>
                  <a:srgbClr val="2CC68D"/>
                </a:solidFill>
                <a:latin typeface="Segoe UI"/>
              </a:rPr>
              <a:t>Patient · Médecin · Administrateur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8DFFF"/>
                </a:solidFill>
                <a:latin typeface="Segoe UI"/>
              </a:rPr>
              <a:t>Application web Angular 21  ·  Backend Spring Boot 3.5 / Java 21</a:t>
            </a:r>
          </a:p>
          <a:p>
            <a:pPr algn="l"/>
            <a:r>
              <a:rPr sz="1300" b="0" i="0">
                <a:solidFill>
                  <a:srgbClr val="D8DFFF"/>
                </a:solidFill>
                <a:latin typeface="Segoe UI"/>
              </a:rPr>
              <a:t>Application mobile Flutter  ·  Vidéo temps réel LiveKit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9456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C68D"/>
                </a:solidFill>
                <a:latin typeface="Segoe UI"/>
              </a:rPr>
              <a:t>SOUTENANCE DE PROJET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Juin 2026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/>
            <a:r>
              <a:rPr sz="1000" b="1" i="0">
                <a:solidFill>
                  <a:srgbClr val="9FB0F0"/>
                </a:solidFill>
                <a:latin typeface="Segoe UI"/>
              </a:rPr>
              <a:t>Projet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IRT42 — Telemedecine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/>
            <a:r>
              <a:rPr sz="1000" b="1" i="0">
                <a:solidFill>
                  <a:srgbClr val="9FB0F0"/>
                </a:solidFill>
                <a:latin typeface="Segoe UI"/>
              </a:rPr>
              <a:t>Package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com.irt42.telemedecine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/>
            <a:r>
              <a:rPr sz="1000" b="1" i="0">
                <a:solidFill>
                  <a:srgbClr val="9FB0F0"/>
                </a:solidFill>
                <a:latin typeface="Segoe UI"/>
              </a:rPr>
              <a:t>Statut</a:t>
            </a:r>
          </a:p>
          <a:p>
            <a:pPr algn="l"/>
            <a:r>
              <a:rPr sz="1250" b="1" i="0">
                <a:solidFill>
                  <a:srgbClr val="2CC68D"/>
                </a:solidFill>
                <a:latin typeface="Segoe UI"/>
              </a:rPr>
              <a:t>Web + mobile de bout en 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SOMMAIRE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5257800" cy="132588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1874520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19656"/>
            <a:ext cx="3886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Segoe UI"/>
              </a:rPr>
              <a:t>Contexte &amp; problématique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Pourquoi une plateforme de télémédecine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00200"/>
            <a:ext cx="5257800" cy="132588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84848" y="1874520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19656"/>
            <a:ext cx="3886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Segoe UI"/>
              </a:rPr>
              <a:t>Objectifs &amp; périmètre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Trois espaces, un parcours de soin complet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82112"/>
            <a:ext cx="5257800" cy="132588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" y="3456432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01568"/>
            <a:ext cx="3886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Segoe UI"/>
              </a:rPr>
              <a:t>Architecture technique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Monolithe modulaire, topologie, sécurité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182112"/>
            <a:ext cx="5257800" cy="132588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84848" y="3456432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01568"/>
            <a:ext cx="3886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Segoe UI"/>
              </a:rPr>
              <a:t>Fonctionnalités clés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Vidéo, messagerie, ordonnances, i18n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64024"/>
            <a:ext cx="5257800" cy="132588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4128" y="5038344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983480"/>
            <a:ext cx="3886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Segoe UI"/>
              </a:rPr>
              <a:t>Démonstration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Parcours patient / médecin / 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764024"/>
            <a:ext cx="5257800" cy="132588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84848" y="5038344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83480"/>
            <a:ext cx="3886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Segoe UI"/>
              </a:rPr>
              <a:t>Bilan &amp; perspectives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Défis relevés et évolutions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01 · CONTEXTE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Segoe UI"/>
              </a:rPr>
              <a:t>L'accès aux soins se heurte à la distance, aux délais de rendez-vous et à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Segoe UI"/>
              </a:rPr>
              <a:t>la dispersion de l'information médicale. La télémédecine y répond — mais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Segoe UI"/>
              </a:rPr>
              <a:t>impose un cadre numérique fiable, sécurisé et simple pour tous.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8992" y="3200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1148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Segoe UI"/>
              </a:rPr>
              <a:t>Délais &amp; distance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Files d'attente, déplacements, déserts médicaux.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92608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9624" y="3200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41148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Segoe UI"/>
              </a:rPr>
              <a:t>Données sensibles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Dossier médical, identité, confidentialité à garantir.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92608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0256" y="3200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41148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Segoe UI"/>
              </a:rPr>
              <a:t>Outils éclatés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RDV, ordonnances, paiement et échange dispersés.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92608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90888" y="3200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41148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Segoe UI"/>
              </a:rPr>
              <a:t>Continuité du soin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Pas de fil conducteur entre patient et praticien.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02 · OBJECTIFS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Objectifs &amp; périmètre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3520440" cy="146304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92024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Segoe UI"/>
              </a:rPr>
              <a:t>🧑‍⚕️  Espace Médecin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97480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Agenda &amp; gestion des rendez-vous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Disponibilités hebdomadaires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Consultation vidéo + notes cliniques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Ordonnances &amp; rapports PDF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Suivi des revenus (payouts)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55448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2" y="1554480"/>
            <a:ext cx="3520440" cy="146304"/>
          </a:xfrm>
          <a:prstGeom prst="roundRect">
            <a:avLst/>
          </a:prstGeom>
          <a:solidFill>
            <a:srgbClr val="2CC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92024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Segoe UI"/>
              </a:rPr>
              <a:t>🧑  Espace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80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Recherche de médecin &amp; prise de RDV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Dossier médical (allergies, traitements…)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Téléconsultation &amp; messagerie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Ordonnances consultables (PDF)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Paiement &amp; remboursement simulés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155448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1554480"/>
            <a:ext cx="3520440" cy="146304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192024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Segoe UI"/>
              </a:rPr>
              <a:t>🛡️  Espace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697480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FFA726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Tableau de bord KPI temps réel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FFA726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Vérification des médecins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FFA726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Gestion des comptes (suspendre/activer)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FFA726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Notifications &amp; diffusion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100" b="1" i="0">
                <a:solidFill>
                  <a:srgbClr val="FFA726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Rapports d'activité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03 · ARCHITECTURE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Topologie de la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194560" cy="9144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Navigateur (SPA)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Angular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2194560" cy="914400"/>
          </a:xfrm>
          <a:prstGeom prst="roundRect">
            <a:avLst/>
          </a:prstGeom>
          <a:solidFill>
            <a:srgbClr val="2CC68D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App mobile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Flutter (patient)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331720"/>
            <a:ext cx="2468880" cy="18288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331720"/>
            <a:ext cx="22860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nginx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reverse-proxy même origine
/api · /ws · /lk · static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245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Segoe UI"/>
              </a:rPr>
              <a:t>Conteneur frontend</a:t>
            </a:r>
          </a:p>
          <a:p>
            <a:pPr algn="ctr"/>
            <a:r>
              <a:rPr sz="950" b="0" i="0">
                <a:solidFill>
                  <a:srgbClr val="6B7280"/>
                </a:solidFill>
                <a:latin typeface="Segoe UI"/>
              </a:rPr>
              <a:t>HTTPS · pas de CORS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508760"/>
            <a:ext cx="2286000" cy="960120"/>
          </a:xfrm>
          <a:prstGeom prst="roundRect">
            <a:avLst/>
          </a:prstGeom>
          <a:solidFill>
            <a:srgbClr val="283C8C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50876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Backend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Spring Boot · :8080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743200"/>
            <a:ext cx="2286000" cy="960120"/>
          </a:xfrm>
          <a:prstGeom prst="roundRect">
            <a:avLst/>
          </a:prstGeom>
          <a:solidFill>
            <a:srgbClr val="336791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74320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PostgreSQL 16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Flyway V1→V8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977639"/>
            <a:ext cx="2286000" cy="960120"/>
          </a:xfrm>
          <a:prstGeom prst="roundRect">
            <a:avLst/>
          </a:prstGeom>
          <a:solidFill>
            <a:srgbClr val="7A4FC0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977639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LiveKit (SFU)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Vidéo temps réel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743200"/>
            <a:ext cx="1828800" cy="9601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743200"/>
            <a:ext cx="1645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MailHog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SMTP (dev)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2377440"/>
            <a:ext cx="822960" cy="457200"/>
          </a:xfrm>
          <a:prstGeom prst="bentConnector3">
            <a:avLst/>
          </a:prstGeom>
          <a:ln w="25400">
            <a:solidFill>
              <a:srgbClr val="3A56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17520" y="3566160"/>
            <a:ext cx="822960" cy="182879"/>
          </a:xfrm>
          <a:prstGeom prst="bentConnector3">
            <a:avLst/>
          </a:prstGeom>
          <a:ln w="25400">
            <a:solidFill>
              <a:srgbClr val="2CC6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309360" y="2011680"/>
            <a:ext cx="914400" cy="731520"/>
          </a:xfrm>
          <a:prstGeom prst="bentConnector3">
            <a:avLst/>
          </a:prstGeom>
          <a:ln w="25400">
            <a:solidFill>
              <a:srgbClr val="283C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309360" y="3200400"/>
            <a:ext cx="914400" cy="91440"/>
          </a:xfrm>
          <a:prstGeom prst="bentConnector3">
            <a:avLst/>
          </a:prstGeom>
          <a:ln w="25400">
            <a:solidFill>
              <a:srgbClr val="3367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09360" y="3749039"/>
            <a:ext cx="914400" cy="685801"/>
          </a:xfrm>
          <a:prstGeom prst="bentConnector3">
            <a:avLst/>
          </a:prstGeom>
          <a:ln w="25400">
            <a:solidFill>
              <a:srgbClr val="7A4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66760" y="2468880"/>
            <a:ext cx="0" cy="274320"/>
          </a:xfrm>
          <a:prstGeom prst="bentConnector3">
            <a:avLst/>
          </a:prstGeom>
          <a:ln w="254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09760" y="2011680"/>
            <a:ext cx="274320" cy="731520"/>
          </a:xfrm>
          <a:prstGeom prst="bentConnector3">
            <a:avLst/>
          </a:prstGeom>
          <a:ln w="254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Segoe UI"/>
              </a:rPr>
              <a:t>Le client web ne parle qu'à sa propre origine : nginx relaie API, WebSocket et LiveKit.</a:t>
            </a:r>
          </a:p>
          <a:p>
            <a:pPr algn="l"/>
            <a:r>
              <a:rPr sz="1150" b="0" i="0">
                <a:solidFill>
                  <a:srgbClr val="6B7280"/>
                </a:solidFill>
                <a:latin typeface="Segoe UI"/>
              </a:rPr>
              <a:t>Une seule URL sert tout — aucun problème de CORS, configuration simplifiée et démontable en une commande Docker.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03 · ARCHITECTURE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Pile technologique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2606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2606040" cy="64008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Frontend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2194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Angular 21 (standalone)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Signals — state réactif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Tailwind CSS 4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Routes lazy + role shells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i18n FR/EN à l'exécution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1554480"/>
            <a:ext cx="2606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3592" y="1554480"/>
            <a:ext cx="2606040" cy="640080"/>
          </a:xfrm>
          <a:prstGeom prst="roundRect">
            <a:avLst/>
          </a:prstGeom>
          <a:solidFill>
            <a:srgbClr val="28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55448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2423160"/>
            <a:ext cx="2194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83C8C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Spring Boot 3.5 · Java 21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83C8C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Monolithe modulaire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83C8C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Spring Security + JWT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83C8C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JPA / Hibernate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83C8C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OpenPDF (PDF)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554480"/>
            <a:ext cx="2606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1554480"/>
            <a:ext cx="2606040" cy="640080"/>
          </a:xfrm>
          <a:prstGeom prst="round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55448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Données &amp; temps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2423160"/>
            <a:ext cx="2194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3679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PostgreSQL 16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3679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Flyway (migrations V1→V8)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3679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WebSocket (chat)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3679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LiveKit (vidéo SFU)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36791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TOTP 2FA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554480"/>
            <a:ext cx="2606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34856" y="1554480"/>
            <a:ext cx="2606040" cy="640080"/>
          </a:xfrm>
          <a:prstGeom prst="roundRect">
            <a:avLst/>
          </a:prstGeom>
          <a:solidFill>
            <a:srgbClr val="2CC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155448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Mobile &amp;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423160"/>
            <a:ext cx="2194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Flutter (Dio, secure storage)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Docker Compose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nginx reverse-proxy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ArchUnit (règles d'archi)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1F2937"/>
                </a:solidFill>
                <a:latin typeface="Segoe UI"/>
              </a:rPr>
              <a:t>MailHog (SMTP dev)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03 · ARCHITECTURE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Backend : monolithe modulaire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Segoe UI"/>
              </a:rPr>
              <a:t>Un seul déployable, organisé en modules de contexte borné, découplés et vérifiés par des tests ArchUnit.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368296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0008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auth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Comptes, rôles, JWT, 2FA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9312" y="2240280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9312" y="2368296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50008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patient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Profil &amp; dossier médical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5664" y="2240280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5664" y="2368296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350008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doctor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Profil, spécialités, diplômes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2016" y="2240280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72016" y="2368296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350008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appointment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RDV, dispo, créneaux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27832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3355848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337560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consultation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Vidéo, chat, notes, rapports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9312" y="3227832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39312" y="3355848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337560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prescription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Ordonnances +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227832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5664" y="3355848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337560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payment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Factures &amp; remboursements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72016" y="3227832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72016" y="3355848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73184" y="3337560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notification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Feed + e-mail mirroir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215384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" y="4343400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4325112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admin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Vérif, métriques, comptes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9312" y="4215384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39312" y="4343400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4325112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common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Base entity, erreurs, PDF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55664" y="4215384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55664" y="4343400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2" y="4325112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config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Security, OpenAPI, 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72016" y="4215384"/>
            <a:ext cx="2670048" cy="8412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72016" y="4343400"/>
            <a:ext cx="54864" cy="585216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73184" y="4325112"/>
            <a:ext cx="2350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56C1"/>
                </a:solidFill>
                <a:latin typeface="Segoe UI"/>
              </a:rPr>
              <a:t>storage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Stockage fichiers (disque)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egoe UI"/>
              </a:rPr>
              <a:t>Règles imposées :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contrôleurs uniquement en api · domain sans dépendance vers api/infra · découpes acycliques.</a:t>
            </a:r>
          </a:p>
          <a:p>
            <a:pPr algn="l"/>
            <a:r>
              <a:rPr sz="1150" b="1" i="0">
                <a:solidFill>
                  <a:srgbClr val="1F2937"/>
                </a:solidFill>
                <a:latin typeface="Segoe UI"/>
              </a:rPr>
              <a:t>Chaque module :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api (REST) → application (logique métier) → domain (entités JPA) → infrastructure (repositories).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03 · ARCHITECTURE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Modèle de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Segoe UI"/>
              </a:rPr>
              <a:t>Schéma centré sur le compte, propriété de Flyway (V1→V8). Chaque table hérite d'un BaseEntity (UUID, audit, version).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057400"/>
            <a:ext cx="2286000" cy="77724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2057400"/>
            <a:ext cx="20665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account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rôles · 1:1 profils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383280"/>
            <a:ext cx="2377440" cy="777240"/>
          </a:xfrm>
          <a:prstGeom prst="roundRect">
            <a:avLst/>
          </a:prstGeom>
          <a:solidFill>
            <a:srgbClr val="2CC68D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3383280"/>
            <a:ext cx="21579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patient_profile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allergies · traitements · labo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383280"/>
            <a:ext cx="2377440" cy="777240"/>
          </a:xfrm>
          <a:prstGeom prst="roundRect">
            <a:avLst/>
          </a:prstGeom>
          <a:solidFill>
            <a:srgbClr val="336791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3383280"/>
            <a:ext cx="21579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doctor_profile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spécialités · dispo · diplômes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703320"/>
            <a:ext cx="2560320" cy="77724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3703320"/>
            <a:ext cx="234086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937"/>
                </a:solidFill>
                <a:latin typeface="Segoe UI"/>
              </a:rPr>
              <a:t>appointment</a:t>
            </a:r>
          </a:p>
          <a:p>
            <a:pPr algn="ctr"/>
            <a:r>
              <a:rPr sz="950" b="0" i="0">
                <a:solidFill>
                  <a:srgbClr val="6B7280"/>
                </a:solidFill>
                <a:latin typeface="Segoe UI"/>
              </a:rPr>
              <a:t>médecin × patient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983480"/>
            <a:ext cx="2194560" cy="777240"/>
          </a:xfrm>
          <a:prstGeom prst="roundRect">
            <a:avLst/>
          </a:prstGeom>
          <a:solidFill>
            <a:srgbClr val="7A4FC0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498348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consultation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chat · note clinique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983480"/>
            <a:ext cx="2194560" cy="777240"/>
          </a:xfrm>
          <a:prstGeom prst="roundRect">
            <a:avLst/>
          </a:prstGeom>
          <a:solidFill>
            <a:srgbClr val="283C8C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0408" y="498348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prescription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+ PDF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983480"/>
            <a:ext cx="2194560" cy="77724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4983480"/>
            <a:ext cx="1975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invoice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paiement simulé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017520" y="2468880"/>
            <a:ext cx="1920240" cy="914400"/>
          </a:xfrm>
          <a:prstGeom prst="bentConnector3">
            <a:avLst/>
          </a:prstGeom>
          <a:ln w="25400">
            <a:solidFill>
              <a:srgbClr val="3A56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23760" y="2468880"/>
            <a:ext cx="1920240" cy="914400"/>
          </a:xfrm>
          <a:prstGeom prst="bentConnector3">
            <a:avLst/>
          </a:prstGeom>
          <a:ln w="25400">
            <a:solidFill>
              <a:srgbClr val="3A56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2468880"/>
            <a:ext cx="45720" cy="1234440"/>
          </a:xfrm>
          <a:prstGeom prst="bentConnector3">
            <a:avLst/>
          </a:prstGeom>
          <a:ln w="254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023360" y="4480560"/>
            <a:ext cx="1463040" cy="502920"/>
          </a:xfrm>
          <a:prstGeom prst="bentConnector3">
            <a:avLst/>
          </a:prstGeom>
          <a:ln w="254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4480560"/>
            <a:ext cx="320040" cy="502920"/>
          </a:xfrm>
          <a:prstGeom prst="bentConnector3">
            <a:avLst/>
          </a:prstGeom>
          <a:ln w="254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49440" y="4297680"/>
            <a:ext cx="1645920" cy="685800"/>
          </a:xfrm>
          <a:prstGeom prst="bentConnector3">
            <a:avLst/>
          </a:prstGeom>
          <a:ln w="254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03 · ARCHITECTURE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Modèle de sécurité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1847088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55648"/>
            <a:ext cx="3840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Segoe UI"/>
              </a:rPr>
              <a:t>Authentification JWT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Jetons d'accès courts + refresh token avec rotation. Déconnexion révoque le refresh.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12280" y="1847088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55648"/>
            <a:ext cx="3840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Segoe UI"/>
              </a:rPr>
              <a:t>2FA TOTP optionnelle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Second facteur par application d'authentification (enrôlement, vérification, désactivation).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3493008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01568"/>
            <a:ext cx="3840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Segoe UI"/>
              </a:rPr>
              <a:t>Multi-rôles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Spring Security : PATIENT / DOCTOR / ADMIN. Guards de route côté Angular + contrôle serveur.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2004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12280" y="3493008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01568"/>
            <a:ext cx="3840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Segoe UI"/>
              </a:rPr>
              <a:t>Mots de passe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Hachage BCrypt. Réinitialisation par jeton à usage unique et OTP e-mail.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5138928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047488"/>
            <a:ext cx="3840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Segoe UI"/>
              </a:rPr>
              <a:t>Contexte sécurisé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HTTPS requis pour la caméra/micro (getUserMedia). Même origine via nginx, pas de CORS.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84632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12280" y="5138928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>
                <a:latin typeface="Segoe UI"/>
              </a:rPr>
              <a:t>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047488"/>
            <a:ext cx="3840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Segoe UI"/>
              </a:rPr>
              <a:t>Audit &amp; intégrité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Auditing JPA (créé/màj), verrou optimiste (version), erreurs normalisées RFC-7807.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04 · FONCTIONNALITÉS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Téléconsultation vidéo (LiveKit)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4FC0"/>
                </a:solidFill>
                <a:latin typeface="Segoe UI"/>
              </a:rPr>
              <a:t>Vidéo temps réel auto-hébergée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7A4FC0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Le backend forge le jeton LiveKit ; le client tente l'URL annoncée puis bascule sur le proxy /lk (wss) en HTTPS.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7A4FC0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Pré-vol caméra/micro : getUserMedia déclenche l'autorisation et des messages d'erreur précis (refus, absence, occupé, origine non sécurisée).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7A4FC0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Bouton « Réessayer la caméra » sans couper le chat ; dégradation en mode chat seul.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7A4FC0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Fin d'appel : seul le médecin clôt la consultation et complète le RDV — le patient peut re-rejoindre.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1444752"/>
            <a:ext cx="5431536" cy="29416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from 2026-06-10 15-30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5212080" cy="2722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04 · FONCTIONNALITÉS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Messagerie temps réel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CC68D"/>
                </a:solidFill>
                <a:latin typeface="Segoe UI"/>
              </a:rPr>
              <a:t>Conversations sécurisées patient ↔ médecin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Interface façon WhatsApp / Instagram : rail de conversations (avatars initiales colorées, recherche, aperçu, présence).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Volet de discussion large avec bulles et indicateur live/polling.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Temps réel via WebSocket, repli par polling 5 s ; envoi en REST.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Aperçu et horodatage du rail mis à jour à l'arrivée des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8814" y="1444752"/>
            <a:ext cx="4418114" cy="4791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from 2026-06-10 15-32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542" y="1554480"/>
            <a:ext cx="419865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04 · FONCTIONNALITÉS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Ordonnances &amp; documents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A56C1"/>
                </a:solidFill>
                <a:latin typeface="Segoe UI"/>
              </a:rPr>
              <a:t>Du médecin au patient, en un geste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Bouton « ℞ Prescrire » sur chaque RDV → composeur pré-rempli (?appointmentId).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À l'émission, le patient reçoit une notification PRESCRIPTION_ISSUED et voit l'ordonnance.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Génération PDF (OpenPDF) : ordonnances et rapports de consultation téléchargeables.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Migration V8 : la contrainte CHECK accepte le nouveau type de notification.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8814" y="1444752"/>
            <a:ext cx="4418114" cy="4791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from 2026-06-10 15-32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542" y="1554480"/>
            <a:ext cx="419865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04 · FONCTIONNALITÉS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Internationalisation FR / 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Segoe UI"/>
              </a:rPr>
              <a:t>Tout utilisateur bascule entre français et anglais, avant ou après connexion — sans rechargement.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64008" cy="118872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4754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Segoe UI"/>
              </a:rPr>
              <a:t>LocaleService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6B7280"/>
                </a:solidFill>
                <a:latin typeface="Segoe UI"/>
              </a:rPr>
              <a:t>Signal lang persisté (localStorage), semé depuis le navigateur, français par défaut ; miroir sur &lt;html lang&gt;.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3317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514600"/>
            <a:ext cx="64008" cy="1188720"/>
          </a:xfrm>
          <a:prstGeom prst="roundRect">
            <a:avLst/>
          </a:prstGeom>
          <a:solidFill>
            <a:srgbClr val="2CC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4754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Segoe UI"/>
              </a:rPr>
              <a:t>TranslatePipe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Pipe « | t » impur : re-rend chaque chaîne quand la langue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64008" cy="11887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43400"/>
            <a:ext cx="4754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Segoe UI"/>
              </a:rPr>
              <a:t>LanguageSwitcher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6B7280"/>
                </a:solidFill>
                <a:latin typeface="Segoe UI"/>
              </a:rPr>
              <a:t>Bascule segmentée FR/EN dans la topbar et sur la page d'authentification.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11480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4297680"/>
            <a:ext cx="64008" cy="1188720"/>
          </a:xfrm>
          <a:prstGeom prst="roundRect">
            <a:avLst/>
          </a:prstGeom>
          <a:solidFill>
            <a:srgbClr val="28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343400"/>
            <a:ext cx="4754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Segoe UI"/>
              </a:rPr>
              <a:t>Dictionnaire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TRANSLATIONS : clés sémantiques → { en, fr }. Nav, dashboards, dossier médical traduits.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05 · DÉMONSTRATION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Tableau de bord — Patient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5431" y="1325880"/>
            <a:ext cx="362083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tient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871" y="1417320"/>
            <a:ext cx="3437953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B7280"/>
                </a:solidFill>
                <a:latin typeface="Segoe UI"/>
              </a:rPr>
              <a:t>Bandeau de statistiques en direct, actions rapides, prochains RDV, ordonnances et factures récentes.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05 · DÉMONSTRATION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Tableau de bord — Médecin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2734" y="1325880"/>
            <a:ext cx="3626227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ctor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174" y="1417320"/>
            <a:ext cx="3443347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B7280"/>
                </a:solidFill>
                <a:latin typeface="Segoe UI"/>
              </a:rPr>
              <a:t>KPIs du jour, planning, résumé des disponibilités, prochains RDV et patients récents — données en direct.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05 · DÉMONSTRATION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Tableau de bord — Administrateur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9183" y="1325880"/>
            <a:ext cx="289332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min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23" y="1417320"/>
            <a:ext cx="2710448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B7280"/>
                </a:solidFill>
                <a:latin typeface="Segoe UI"/>
              </a:rPr>
              <a:t>Cartes KPI, répartition des RDV par statut, panneau de santé plateforme et tuiles de gestion.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05 · DÉMONSTRATION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Application mobile patient (Flutter)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CC68D"/>
                </a:solidFill>
                <a:latin typeface="Segoe UI"/>
              </a:rPr>
              <a:t>Le soin dans la poche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Prise de RDV et téléconsultation depuis le mobile.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Ordonnances et dossier médical consultables.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Feed d'alertes in-app (relais des notifications push).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Stockage de session sécurisé ; autofill des mots de passe.</a:t>
            </a:r>
          </a:p>
          <a:p>
            <a:pPr algn="l">
              <a:lnSpc>
                <a:spcPct val="108000"/>
              </a:lnSpc>
              <a:spcBef>
                <a:spcPts val="12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Médecins/admins connectés : écran « utilisez le portail web 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53483" y="1444752"/>
            <a:ext cx="4343445" cy="4791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  <a:effectLst>
            <a:outerShdw blurRad="90000" dist="40000" dir="5400000" rotWithShape="0">
              <a:srgbClr val="1F293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from 2026-06-10 15-33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11" y="1554480"/>
            <a:ext cx="412398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06 · BILAN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Défis techniques &amp;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257800" cy="1463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1828800"/>
            <a:ext cx="457200" cy="457200"/>
          </a:xfrm>
          <a:prstGeom prst="ellipse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37360"/>
            <a:ext cx="4251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Segoe UI"/>
              </a:rPr>
              <a:t>Caméra qui ne s'active pas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6B7280"/>
                </a:solidFill>
                <a:latin typeface="Segoe UI"/>
              </a:rPr>
              <a:t>Origine http non sécurisée → getUserMedia bloqué. Solution : HTTPS (certificat auto-signé) + pré-vol explicite des permissions.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5257800" cy="1463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84848" y="1828800"/>
            <a:ext cx="457200" cy="457200"/>
          </a:xfrm>
          <a:prstGeom prst="ellipse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37360"/>
            <a:ext cx="4251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Segoe UI"/>
              </a:rPr>
              <a:t>Chunks obsolètes (MIME)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6B7280"/>
                </a:solidFill>
                <a:latin typeface="Segoe UI"/>
              </a:rPr>
              <a:t>index.html en cache demandait d'anciens chunks. Solution : no-store sur index.html, build de production, auto-rechargement.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5257800" cy="1463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474720"/>
            <a:ext cx="457200" cy="457200"/>
          </a:xfrm>
          <a:prstGeom prst="ellipse">
            <a:avLst/>
          </a:prstGeom>
          <a:solidFill>
            <a:srgbClr val="2CC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383280"/>
            <a:ext cx="4251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Segoe UI"/>
              </a:rPr>
              <a:t>Contrainte ordonnance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6B7280"/>
                </a:solidFill>
                <a:latin typeface="Segoe UI"/>
              </a:rPr>
              <a:t>CHECK rejetait PRESCRIPTION_ISSUED. Solution : migration Flyway V8 recréant la contrainte.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200400"/>
            <a:ext cx="5257800" cy="1463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84848" y="3474720"/>
            <a:ext cx="457200" cy="457200"/>
          </a:xfrm>
          <a:prstGeom prst="ellipse">
            <a:avLst/>
          </a:prstGeom>
          <a:solidFill>
            <a:srgbClr val="28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383280"/>
            <a:ext cx="4251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Segoe UI"/>
              </a:rPr>
              <a:t>Fin d'appel prématurée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6B7280"/>
                </a:solidFill>
                <a:latin typeface="Segoe UI"/>
              </a:rPr>
              <a:t>Le départ du patient clôturait le RDV. Solution : seul le médecin clôt la consultation.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5257800" cy="1463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5120640"/>
            <a:ext cx="457200" cy="457200"/>
          </a:xfrm>
          <a:prstGeom prst="ellipse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29200"/>
            <a:ext cx="4251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Segoe UI"/>
              </a:rPr>
              <a:t>Découplage des modules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6B7280"/>
                </a:solidFill>
                <a:latin typeface="Segoe UI"/>
              </a:rPr>
              <a:t>Risque de dépendances cycliques. Solution : tests ArchUnit imposant les règles de couches.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846320"/>
            <a:ext cx="5257800" cy="1463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84848" y="5120640"/>
            <a:ext cx="457200" cy="457200"/>
          </a:xfrm>
          <a:prstGeom prst="ellipse">
            <a:avLst/>
          </a:prstGeom>
          <a:solidFill>
            <a:srgbClr val="7A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029200"/>
            <a:ext cx="4251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Segoe UI"/>
              </a:rPr>
              <a:t>Environnement de build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6B7280"/>
                </a:solidFill>
                <a:latin typeface="Segoe UI"/>
              </a:rPr>
              <a:t>Pas de Java/Node hôte. Solution : tout construit et testé dans Docker, ports dédiés.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9728" cy="457200"/>
          </a:xfrm>
          <a:prstGeom prst="round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7432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56C1"/>
                </a:solidFill>
                <a:latin typeface="Segoe UI"/>
              </a:rPr>
              <a:t>06 · BILAN</a:t>
            </a:r>
          </a:p>
          <a:p>
            <a:pPr algn="l"/>
            <a:r>
              <a:rPr sz="2500" b="1" i="0">
                <a:solidFill>
                  <a:srgbClr val="1F2937"/>
                </a:solidFill>
                <a:latin typeface="Segoe UI"/>
              </a:rPr>
              <a:t>Bilan &amp; perspectives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384048"/>
            <a:ext cx="566928" cy="420624"/>
          </a:xfrm>
          <a:prstGeom prst="roundRect">
            <a:avLst>
              <a:gd name="adj" fmla="val 35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A56C1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Telemedecine — Plateforme de téléconsultation  ·  IRT42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55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"/>
              </a:rPr>
              <a:t>Soutenance ·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257800" cy="4480560"/>
          </a:xfrm>
          <a:prstGeom prst="roundRect">
            <a:avLst/>
          </a:prstGeom>
          <a:solidFill>
            <a:srgbClr val="ECFBF4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CC68D"/>
                </a:solidFill>
                <a:latin typeface="Segoe UI"/>
              </a:rPr>
              <a:t>✓  Réalisé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3 espaces web complets (patient/médecin/admin)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Application mobile patient Flutter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Vidéo, messagerie et notifications temps réel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Ordonnances, rapports &amp; factures en PDF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Sécurité JWT + refresh + 2FA TOTP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i18n FR/EN à l'exécution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1" i="0">
                <a:solidFill>
                  <a:srgbClr val="2CC68D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Stack 100% dockerisée, démontable en 1 commande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029200" cy="4480560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A56C1"/>
                </a:solidFill>
                <a:latin typeface="Segoe UI"/>
              </a:rPr>
              <a:t>→  Perspectives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Paiement réel (Stripe / mobile money)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Stockage objet (S3 / MinIO) + chiffrement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Hachage Argon2id + gestion de secrets (KMS)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Notifications push natives (FCM/APNs)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Observabilité (traces, métriques, logs)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1" i="0">
                <a:solidFill>
                  <a:srgbClr val="3A56C1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1F2937"/>
                </a:solidFill>
                <a:latin typeface="Segoe UI"/>
              </a:rPr>
              <a:t>Déploiement cloud + CI/CD complet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91440"/>
          </a:xfrm>
          <a:prstGeom prst="rect">
            <a:avLst/>
          </a:prstGeom>
          <a:solidFill>
            <a:srgbClr val="2CC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8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389120"/>
            <a:ext cx="3657600" cy="3657600"/>
          </a:xfrm>
          <a:prstGeom prst="ellipse">
            <a:avLst/>
          </a:prstGeom>
          <a:solidFill>
            <a:srgbClr val="28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40680" y="1371600"/>
            <a:ext cx="1325880" cy="13258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6000" b="1">
                <a:solidFill>
                  <a:srgbClr val="3A56C1"/>
                </a:solidFill>
                <a:latin typeface="Segoe UI"/>
              </a:rPr>
              <a:t>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  <a:p>
            <a:pPr algn="ctr"/>
            <a:r>
              <a:rPr sz="1800" b="0" i="0">
                <a:solidFill>
                  <a:srgbClr val="C7D2FF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1500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D8DFFF"/>
                </a:solidFill>
                <a:latin typeface="Segoe UI"/>
              </a:rPr>
              <a:t>Telemedecine — Plateforme de téléconsultation  ·  IRT42  ·  com.irt42.telemedecine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